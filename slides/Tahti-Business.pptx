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Subscriptions (€40)</c:v>
                </c:pt>
              </c:strCache>
            </c:strRef>
          </c:tx>
          <c:spPr>
            <a:solidFill>
              <a:srgbClr val="00D4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
200 paid</c:v>
                  </c:pt>
                  <c:pt idx="1">
                    <c:v>Year 2
1,200 paid</c:v>
                  </c:pt>
                  <c:pt idx="2">
                    <c:v>Year 3
4,000 paid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8000</c:v>
                </c:pt>
                <c:pt idx="1">
                  <c:v>48000</c:v>
                </c:pt>
                <c:pt idx="2">
                  <c:v>160000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Distribution (gross)</c:v>
                </c:pt>
              </c:strCache>
            </c:strRef>
          </c:tx>
          <c:spPr>
            <a:solidFill>
              <a:srgbClr val="B388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
200 paid</c:v>
                  </c:pt>
                  <c:pt idx="1">
                    <c:v>Year 2
1,200 paid</c:v>
                  </c:pt>
                  <c:pt idx="2">
                    <c:v>Year 3
4,000 paid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1440</c:v>
                </c:pt>
                <c:pt idx="1">
                  <c:v>8640</c:v>
                </c:pt>
                <c:pt idx="2">
                  <c:v>28800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Foundation grants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
200 paid</c:v>
                  </c:pt>
                  <c:pt idx="1">
                    <c:v>Year 2
1,200 paid</c:v>
                  </c:pt>
                  <c:pt idx="2">
                    <c:v>Year 3
4,000 paid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25000</c:v>
                </c:pt>
                <c:pt idx="1">
                  <c:v>45000</c:v>
                </c:pt>
                <c:pt idx="2">
                  <c:v>80000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Donations + referral</c:v>
                </c:pt>
              </c:strCache>
            </c:strRef>
          </c:tx>
          <c:spPr>
            <a:solidFill>
              <a:srgbClr val="3DDC9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
200 paid</c:v>
                  </c:pt>
                  <c:pt idx="1">
                    <c:v>Year 2
1,200 paid</c:v>
                  </c:pt>
                  <c:pt idx="2">
                    <c:v>Year 3
4,000 paid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950</c:v>
                </c:pt>
                <c:pt idx="1">
                  <c:v>5700</c:v>
                </c:pt>
                <c:pt idx="2">
                  <c:v>19000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Fan-sub op fee</c:v>
                </c:pt>
              </c:strCache>
            </c:strRef>
          </c:tx>
          <c:spPr>
            <a:solidFill>
              <a:srgbClr val="FFB45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
200 paid</c:v>
                  </c:pt>
                  <c:pt idx="1">
                    <c:v>Year 2
1,200 paid</c:v>
                  </c:pt>
                  <c:pt idx="2">
                    <c:v>Year 3
4,000 paid</c:v>
                  </c:pt>
                </c:lvl>
              </c:multiLvlStrCache>
            </c:multiLvl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36</c:v>
                </c:pt>
                <c:pt idx="1">
                  <c:v>504</c:v>
                </c:pt>
                <c:pt idx="2">
                  <c:v>3072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2C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B327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B92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0E27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F0F2F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A0E2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0F2F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F0F2FF"/>
                </a:solidFill>
                <a:latin typeface="Arial"/>
              </a:rPr>
              <a:t>Year 3 outflows (€)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Y3 allocation</c:v>
                </c:pt>
              </c:strCache>
            </c:strRef>
          </c:tx>
          <c:spPr>
            <a:solidFill>
              <a:srgbClr val="00D4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0F2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Infrastructure + ops</c:v>
                  </c:pt>
                  <c:pt idx="1">
                    <c:v>Director salary</c:v>
                  </c:pt>
                  <c:pt idx="2">
                    <c:v>Audit + admin</c:v>
                  </c:pt>
                  <c:pt idx="3">
                    <c:v>Distribution pass-through</c:v>
                  </c:pt>
                  <c:pt idx="4">
                    <c:v>Stripe + payment fees</c:v>
                  </c:pt>
                  <c:pt idx="5">
                    <c:v>Artist grants</c:v>
                  </c:pt>
                  <c:pt idx="6">
                    <c:v>Operating reserve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86280</c:v>
                </c:pt>
                <c:pt idx="1">
                  <c:v>45000</c:v>
                </c:pt>
                <c:pt idx="2">
                  <c:v>6000</c:v>
                </c:pt>
                <c:pt idx="3">
                  <c:v>10800</c:v>
                </c:pt>
                <c:pt idx="4">
                  <c:v>4640</c:v>
                </c:pt>
                <c:pt idx="5">
                  <c:v>129737</c:v>
                </c:pt>
                <c:pt idx="6">
                  <c:v>14415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0F2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B92C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B327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2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0E27"/>
        </a:solidFill>
        <a:ln>
          <a:noFill/>
        </a:ln>
        <a:effectLst/>
      </c:spPr>
    </c:plotArea>
    <c:plotVisOnly val="1"/>
    <c:dispBlanksAs val="span"/>
  </c:chart>
  <c:spPr>
    <a:solidFill>
      <a:srgbClr val="0A0E2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457200"/>
            <a:ext cx="2103120" cy="12801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02920"/>
            <a:ext cx="54864" cy="4572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77240" y="457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TAHTI  ry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182880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nonprofit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640080" y="2788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broadcasting platform for artists,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640080" y="35204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by its members.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640080" y="461772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Tahti ry is a Finnish registered association building open-source broadcasting infrastructure for independent musicians and DJs. Surplus is distributed annually as artist grants, visible on a public ledger.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5A6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  ·  HELSINKI  ·  YHDISTYS  ·  AGPL-3.0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210312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371600"/>
            <a:ext cx="73152" cy="21031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554480"/>
            <a:ext cx="10332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Tahti ry advances the work of independent musicians and DJs by </a:t>
            </a:r>
            <a:pPr indent="0" marL="0">
              <a:buNone/>
            </a:pPr>
            <a:r>
              <a:rPr lang="en-US" sz="2200" b="1" i="1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providing them with a free, open-source broadcasting tool</a:t>
            </a:r>
            <a:pPr indent="0" marL="0">
              <a:buNone/>
            </a:pPr>
            <a:r>
              <a:rPr lang="en-US" sz="2200" i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that enables a 24/7 channel, distribution to music services, and </a:t>
            </a:r>
            <a:pPr indent="0" marL="0">
              <a:buNone/>
            </a:pPr>
            <a:r>
              <a:rPr lang="en-US" sz="2200" b="1" i="1" dirty="0">
                <a:solidFill>
                  <a:srgbClr val="3DDC9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direct grants based on listener hours</a:t>
            </a:r>
            <a:pPr indent="0" marL="0">
              <a:buNone/>
            </a:pPr>
            <a:r>
              <a:rPr lang="en-US" sz="2200" i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3703320"/>
            <a:ext cx="3520440" cy="260604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3703320"/>
            <a:ext cx="352044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88620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38587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14400" y="4526280"/>
            <a:ext cx="3108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line under AGPL-3.0. Anyone can fork, run, contribute. No appropriation possible.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43400" y="3703320"/>
            <a:ext cx="3520440" cy="260604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43400" y="3703320"/>
            <a:ext cx="3520440" cy="73152"/>
          </a:xfrm>
          <a:prstGeom prst="rect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388620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57800" y="38587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617720" y="4526280"/>
            <a:ext cx="3108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Public ledger of all revenue, costs, and grants. Monthly rollups, annual reports, queryable API.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046720" y="3703320"/>
            <a:ext cx="3520440" cy="260604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046720" y="3703320"/>
            <a:ext cx="3520440" cy="73152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388620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61120" y="38587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Member-owned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321040" y="4526280"/>
            <a:ext cx="3108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Paying artists are members of the association. Members vote at the AGM. Surplus returns to them.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URL per artist. Always playing. Live when they’re on, archive when they’re not.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06040" cy="246888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260604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201168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834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8B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" y="31089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 broadcasts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35204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OBS, Mixxx, Traktor, butt, or browser-based Go Live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29000" y="1783080"/>
            <a:ext cx="2606040" cy="246888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29000" y="1783080"/>
            <a:ext cx="2606040" cy="73152"/>
          </a:xfrm>
          <a:prstGeom prst="rect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2011680"/>
            <a:ext cx="685800" cy="6858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29000" y="2834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8B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3566160" y="31089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goes live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611880" y="35204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Liquidsoap distributes via HLS + optional RTMP multistream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783080"/>
            <a:ext cx="2606040" cy="246888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17920" y="1783080"/>
            <a:ext cx="2606040" cy="73152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011680"/>
            <a:ext cx="685800" cy="6858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17920" y="2834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8B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6355080" y="31089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Listeners + chat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400800" y="35204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Anonymous tune-in, ephemeral chat with pinned announcements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9006840" y="1783080"/>
            <a:ext cx="2606040" cy="246888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006840" y="1783080"/>
            <a:ext cx="2606040" cy="73152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0" y="2011680"/>
            <a:ext cx="685800" cy="6858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006840" y="2834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8B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9144000" y="31089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Auto-archived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9189720" y="35204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Recording saved, ready for distribution and fallback rotation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640080" y="4526280"/>
            <a:ext cx="10881360" cy="1828800"/>
          </a:xfrm>
          <a:prstGeom prst="rect">
            <a:avLst/>
          </a:prstGeom>
          <a:solidFill>
            <a:srgbClr val="131836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640080" y="4526280"/>
            <a:ext cx="73152" cy="18288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914400" y="4663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technical core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914400" y="51206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Each channel runs as one perpetual Liquidsoap process. When the artist stops broadcasting, </a:t>
            </a:r>
            <a:pPr indent="0" marL="0">
              <a:buNone/>
            </a:pPr>
            <a:r>
              <a:rPr lang="en-US" sz="13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channel does not go offline </a:t>
            </a:r>
            <a:pPr indent="0" marL="0">
              <a:buNone/>
            </a:pPr>
            <a:r>
              <a:rPr lang="en-US" sz="13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the </a:t>
            </a:r>
            <a:pPr indent="0" marL="0">
              <a:buNone/>
            </a:pPr>
            <a:r>
              <a:rPr lang="en-US" sz="1300" i="1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fallback() </a:t>
            </a:r>
            <a:pPr indent="0" marL="0">
              <a:buNone/>
            </a:pPr>
            <a:r>
              <a:rPr lang="en-US" sz="13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operator instantly switches to the archive playlist with </a:t>
            </a:r>
            <a:pPr indent="0" marL="0">
              <a:buNone/>
            </a:pPr>
            <a:r>
              <a:rPr lang="en-US" sz="13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audio gap. </a:t>
            </a:r>
            <a:pPr indent="0" marL="0">
              <a:buNone/>
            </a:pPr>
            <a:r>
              <a:rPr lang="en-US" sz="13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same URL that played a live set yesterday plays the recorded mixes today. This is the entire product compressed into one technical detail.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capabilities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Six pillars — chat, broadcasting, profile, promo, fan-subs, Tahti Radio.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657600" cy="246888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3657600" cy="54864"/>
          </a:xfrm>
          <a:prstGeom prst="rect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53619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49047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chat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43000" y="1810512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38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Featured, not optional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13232" y="219456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Listeners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057400" y="219456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Anonymous, no signup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13232" y="257860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Lifetime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057400" y="257860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24h ephemeral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13232" y="296265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Announcements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057400" y="2962656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Pinned, max 3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13232" y="334670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Moderation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2057400" y="3346704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Per-channel, fingerprint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297680" y="1371600"/>
            <a:ext cx="3657600" cy="246888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297680" y="1371600"/>
            <a:ext cx="36576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272" y="1536192"/>
            <a:ext cx="347472" cy="34747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892040" y="149047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+ broadcasting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4892040" y="1810512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Guides for every tool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4462272" y="219456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OBS Studio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5806440" y="219456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RTMP, copy-paste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4462272" y="257860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Mixxx, Traktor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5806440" y="257860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Icecast2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4462272" y="296265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Browser Go Live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5806440" y="2962656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WebRTC, no install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4462272" y="334670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Test connection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5806440" y="3346704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10s probe, feedback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8046720" y="1371600"/>
            <a:ext cx="3657600" cy="246888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8046720" y="1371600"/>
            <a:ext cx="3657600" cy="54864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536192"/>
            <a:ext cx="347472" cy="347472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8641080" y="149047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+ releases</a:t>
            </a:r>
            <a:endParaRPr lang="en-US" sz="1300" dirty="0"/>
          </a:p>
        </p:txBody>
      </p:sp>
      <p:sp>
        <p:nvSpPr>
          <p:cNvPr id="34" name="Text 29"/>
          <p:cNvSpPr/>
          <p:nvPr/>
        </p:nvSpPr>
        <p:spPr>
          <a:xfrm>
            <a:off x="8641080" y="1810512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B45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artist’s home on the internet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8211312" y="219456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URL</a:t>
            </a:r>
            <a:endParaRPr lang="en-US" sz="950" dirty="0"/>
          </a:p>
        </p:txBody>
      </p:sp>
      <p:sp>
        <p:nvSpPr>
          <p:cNvPr id="36" name="Text 31"/>
          <p:cNvSpPr/>
          <p:nvPr/>
        </p:nvSpPr>
        <p:spPr>
          <a:xfrm>
            <a:off x="9555480" y="219456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tahti.fi/u/&lt;handle&gt;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8211312" y="257860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Bio</a:t>
            </a:r>
            <a:endParaRPr lang="en-US" sz="950" dirty="0"/>
          </a:p>
        </p:txBody>
      </p:sp>
      <p:sp>
        <p:nvSpPr>
          <p:cNvPr id="38" name="Text 33"/>
          <p:cNvSpPr/>
          <p:nvPr/>
        </p:nvSpPr>
        <p:spPr>
          <a:xfrm>
            <a:off x="9555480" y="257860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Markdown, rich</a:t>
            </a:r>
            <a:endParaRPr lang="en-US" sz="1000" dirty="0"/>
          </a:p>
        </p:txBody>
      </p:sp>
      <p:sp>
        <p:nvSpPr>
          <p:cNvPr id="39" name="Text 34"/>
          <p:cNvSpPr/>
          <p:nvPr/>
        </p:nvSpPr>
        <p:spPr>
          <a:xfrm>
            <a:off x="8211312" y="296265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Releases</a:t>
            </a:r>
            <a:endParaRPr lang="en-US" sz="950" dirty="0"/>
          </a:p>
        </p:txBody>
      </p:sp>
      <p:sp>
        <p:nvSpPr>
          <p:cNvPr id="40" name="Text 35"/>
          <p:cNvSpPr/>
          <p:nvPr/>
        </p:nvSpPr>
        <p:spPr>
          <a:xfrm>
            <a:off x="9555480" y="2962656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Albums, EPs, singles</a:t>
            </a:r>
            <a:endParaRPr lang="en-US" sz="1000" dirty="0"/>
          </a:p>
        </p:txBody>
      </p:sp>
      <p:sp>
        <p:nvSpPr>
          <p:cNvPr id="41" name="Text 36"/>
          <p:cNvSpPr/>
          <p:nvPr/>
        </p:nvSpPr>
        <p:spPr>
          <a:xfrm>
            <a:off x="8211312" y="334670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Upload formats</a:t>
            </a:r>
            <a:endParaRPr lang="en-US" sz="950" dirty="0"/>
          </a:p>
        </p:txBody>
      </p:sp>
      <p:sp>
        <p:nvSpPr>
          <p:cNvPr id="42" name="Text 37"/>
          <p:cNvSpPr/>
          <p:nvPr/>
        </p:nvSpPr>
        <p:spPr>
          <a:xfrm>
            <a:off x="9555480" y="3346704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WAV, FLAC, MP3, AAC</a:t>
            </a:r>
            <a:endParaRPr lang="en-US" sz="1000" dirty="0"/>
          </a:p>
        </p:txBody>
      </p:sp>
      <p:sp>
        <p:nvSpPr>
          <p:cNvPr id="43" name="Shape 38"/>
          <p:cNvSpPr/>
          <p:nvPr/>
        </p:nvSpPr>
        <p:spPr>
          <a:xfrm>
            <a:off x="548640" y="3931920"/>
            <a:ext cx="3657600" cy="246888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44" name="Shape 39"/>
          <p:cNvSpPr/>
          <p:nvPr/>
        </p:nvSpPr>
        <p:spPr>
          <a:xfrm>
            <a:off x="548640" y="3931920"/>
            <a:ext cx="3657600" cy="54864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4096512"/>
            <a:ext cx="347472" cy="347472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1143000" y="405079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toolkit</a:t>
            </a:r>
            <a:endParaRPr lang="en-US" sz="1300" dirty="0"/>
          </a:p>
        </p:txBody>
      </p:sp>
      <p:sp>
        <p:nvSpPr>
          <p:cNvPr id="47" name="Text 41"/>
          <p:cNvSpPr/>
          <p:nvPr/>
        </p:nvSpPr>
        <p:spPr>
          <a:xfrm>
            <a:off x="1143000" y="4370832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DC9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Spread the word, measure it</a:t>
            </a:r>
            <a:endParaRPr lang="en-US" sz="900" dirty="0"/>
          </a:p>
        </p:txBody>
      </p:sp>
      <p:sp>
        <p:nvSpPr>
          <p:cNvPr id="48" name="Text 42"/>
          <p:cNvSpPr/>
          <p:nvPr/>
        </p:nvSpPr>
        <p:spPr>
          <a:xfrm>
            <a:off x="713232" y="475488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Embed widget</a:t>
            </a:r>
            <a:endParaRPr lang="en-US" sz="950" dirty="0"/>
          </a:p>
        </p:txBody>
      </p:sp>
      <p:sp>
        <p:nvSpPr>
          <p:cNvPr id="49" name="Text 43"/>
          <p:cNvSpPr/>
          <p:nvPr/>
        </p:nvSpPr>
        <p:spPr>
          <a:xfrm>
            <a:off x="2057400" y="475488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oEmbed, ~25 KB</a:t>
            </a:r>
            <a:endParaRPr lang="en-US" sz="1000" dirty="0"/>
          </a:p>
        </p:txBody>
      </p:sp>
      <p:sp>
        <p:nvSpPr>
          <p:cNvPr id="50" name="Text 44"/>
          <p:cNvSpPr/>
          <p:nvPr/>
        </p:nvSpPr>
        <p:spPr>
          <a:xfrm>
            <a:off x="713232" y="513892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Smart links</a:t>
            </a:r>
            <a:endParaRPr lang="en-US" sz="950" dirty="0"/>
          </a:p>
        </p:txBody>
      </p:sp>
      <p:sp>
        <p:nvSpPr>
          <p:cNvPr id="51" name="Text 45"/>
          <p:cNvSpPr/>
          <p:nvPr/>
        </p:nvSpPr>
        <p:spPr>
          <a:xfrm>
            <a:off x="2057400" y="513892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URL → all DSPs</a:t>
            </a:r>
            <a:endParaRPr lang="en-US" sz="1000" dirty="0"/>
          </a:p>
        </p:txBody>
      </p:sp>
      <p:sp>
        <p:nvSpPr>
          <p:cNvPr id="52" name="Text 46"/>
          <p:cNvSpPr/>
          <p:nvPr/>
        </p:nvSpPr>
        <p:spPr>
          <a:xfrm>
            <a:off x="713232" y="552297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Social auto-post</a:t>
            </a:r>
            <a:endParaRPr lang="en-US" sz="950" dirty="0"/>
          </a:p>
        </p:txBody>
      </p:sp>
      <p:sp>
        <p:nvSpPr>
          <p:cNvPr id="53" name="Text 47"/>
          <p:cNvSpPr/>
          <p:nvPr/>
        </p:nvSpPr>
        <p:spPr>
          <a:xfrm>
            <a:off x="2057400" y="5522976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Twitter, Mastodon, BS</a:t>
            </a:r>
            <a:endParaRPr lang="en-US" sz="1000" dirty="0"/>
          </a:p>
        </p:txBody>
      </p:sp>
      <p:sp>
        <p:nvSpPr>
          <p:cNvPr id="54" name="Text 48"/>
          <p:cNvSpPr/>
          <p:nvPr/>
        </p:nvSpPr>
        <p:spPr>
          <a:xfrm>
            <a:off x="713232" y="590702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Track analytics</a:t>
            </a:r>
            <a:endParaRPr lang="en-US" sz="950" dirty="0"/>
          </a:p>
        </p:txBody>
      </p:sp>
      <p:sp>
        <p:nvSpPr>
          <p:cNvPr id="55" name="Text 49"/>
          <p:cNvSpPr/>
          <p:nvPr/>
        </p:nvSpPr>
        <p:spPr>
          <a:xfrm>
            <a:off x="2057400" y="5907024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Plays, completion</a:t>
            </a:r>
            <a:endParaRPr lang="en-US" sz="1000" dirty="0"/>
          </a:p>
        </p:txBody>
      </p:sp>
      <p:sp>
        <p:nvSpPr>
          <p:cNvPr id="56" name="Shape 50"/>
          <p:cNvSpPr/>
          <p:nvPr/>
        </p:nvSpPr>
        <p:spPr>
          <a:xfrm>
            <a:off x="4297680" y="3931920"/>
            <a:ext cx="3657600" cy="246888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57" name="Shape 51"/>
          <p:cNvSpPr/>
          <p:nvPr/>
        </p:nvSpPr>
        <p:spPr>
          <a:xfrm>
            <a:off x="4297680" y="3931920"/>
            <a:ext cx="365760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5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2272" y="4096512"/>
            <a:ext cx="347472" cy="347472"/>
          </a:xfrm>
          <a:prstGeom prst="rect">
            <a:avLst/>
          </a:prstGeom>
        </p:spPr>
      </p:pic>
      <p:sp>
        <p:nvSpPr>
          <p:cNvPr id="59" name="Text 52"/>
          <p:cNvSpPr/>
          <p:nvPr/>
        </p:nvSpPr>
        <p:spPr>
          <a:xfrm>
            <a:off x="4892040" y="405079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Fan-subscriptions</a:t>
            </a:r>
            <a:endParaRPr lang="en-US" sz="1300" dirty="0"/>
          </a:p>
        </p:txBody>
      </p:sp>
      <p:sp>
        <p:nvSpPr>
          <p:cNvPr id="60" name="Text 53"/>
          <p:cNvSpPr/>
          <p:nvPr/>
        </p:nvSpPr>
        <p:spPr>
          <a:xfrm>
            <a:off x="4892040" y="4370832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Direct support — 0% org take</a:t>
            </a:r>
            <a:endParaRPr lang="en-US" sz="900" dirty="0"/>
          </a:p>
        </p:txBody>
      </p:sp>
      <p:sp>
        <p:nvSpPr>
          <p:cNvPr id="61" name="Text 54"/>
          <p:cNvSpPr/>
          <p:nvPr/>
        </p:nvSpPr>
        <p:spPr>
          <a:xfrm>
            <a:off x="4462272" y="475488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Listener pays</a:t>
            </a:r>
            <a:endParaRPr lang="en-US" sz="950" dirty="0"/>
          </a:p>
        </p:txBody>
      </p:sp>
      <p:sp>
        <p:nvSpPr>
          <p:cNvPr id="62" name="Text 55"/>
          <p:cNvSpPr/>
          <p:nvPr/>
        </p:nvSpPr>
        <p:spPr>
          <a:xfrm>
            <a:off x="5806440" y="475488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Artist directly</a:t>
            </a:r>
            <a:endParaRPr lang="en-US" sz="1000" dirty="0"/>
          </a:p>
        </p:txBody>
      </p:sp>
      <p:sp>
        <p:nvSpPr>
          <p:cNvPr id="63" name="Text 56"/>
          <p:cNvSpPr/>
          <p:nvPr/>
        </p:nvSpPr>
        <p:spPr>
          <a:xfrm>
            <a:off x="4462272" y="513892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Org cut</a:t>
            </a:r>
            <a:endParaRPr lang="en-US" sz="950" dirty="0"/>
          </a:p>
        </p:txBody>
      </p:sp>
      <p:sp>
        <p:nvSpPr>
          <p:cNvPr id="64" name="Text 57"/>
          <p:cNvSpPr/>
          <p:nvPr/>
        </p:nvSpPr>
        <p:spPr>
          <a:xfrm>
            <a:off x="5806440" y="513892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0% (2% ops fee only)</a:t>
            </a:r>
            <a:endParaRPr lang="en-US" sz="1000" dirty="0"/>
          </a:p>
        </p:txBody>
      </p:sp>
      <p:sp>
        <p:nvSpPr>
          <p:cNvPr id="65" name="Text 58"/>
          <p:cNvSpPr/>
          <p:nvPr/>
        </p:nvSpPr>
        <p:spPr>
          <a:xfrm>
            <a:off x="4462272" y="552297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Subscriber perks</a:t>
            </a:r>
            <a:endParaRPr lang="en-US" sz="950" dirty="0"/>
          </a:p>
        </p:txBody>
      </p:sp>
      <p:sp>
        <p:nvSpPr>
          <p:cNvPr id="66" name="Text 59"/>
          <p:cNvSpPr/>
          <p:nvPr/>
        </p:nvSpPr>
        <p:spPr>
          <a:xfrm>
            <a:off x="5806440" y="5522976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Badge, FLAC downloads</a:t>
            </a:r>
            <a:endParaRPr lang="en-US" sz="1000" dirty="0"/>
          </a:p>
        </p:txBody>
      </p:sp>
      <p:sp>
        <p:nvSpPr>
          <p:cNvPr id="67" name="Text 60"/>
          <p:cNvSpPr/>
          <p:nvPr/>
        </p:nvSpPr>
        <p:spPr>
          <a:xfrm>
            <a:off x="4462272" y="590702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Stripe Connect</a:t>
            </a:r>
            <a:endParaRPr lang="en-US" sz="950" dirty="0"/>
          </a:p>
        </p:txBody>
      </p:sp>
      <p:sp>
        <p:nvSpPr>
          <p:cNvPr id="68" name="Text 61"/>
          <p:cNvSpPr/>
          <p:nvPr/>
        </p:nvSpPr>
        <p:spPr>
          <a:xfrm>
            <a:off x="5806440" y="5907024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Express payouts</a:t>
            </a:r>
            <a:endParaRPr lang="en-US" sz="1000" dirty="0"/>
          </a:p>
        </p:txBody>
      </p:sp>
      <p:sp>
        <p:nvSpPr>
          <p:cNvPr id="69" name="Shape 62"/>
          <p:cNvSpPr/>
          <p:nvPr/>
        </p:nvSpPr>
        <p:spPr>
          <a:xfrm>
            <a:off x="8046720" y="3931920"/>
            <a:ext cx="3657600" cy="246888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70" name="Shape 63"/>
          <p:cNvSpPr/>
          <p:nvPr/>
        </p:nvSpPr>
        <p:spPr>
          <a:xfrm>
            <a:off x="8046720" y="3931920"/>
            <a:ext cx="3657600" cy="54864"/>
          </a:xfrm>
          <a:prstGeom prst="rect">
            <a:avLst/>
          </a:prstGeom>
          <a:solidFill>
            <a:srgbClr val="F0F2FF"/>
          </a:solidFill>
          <a:ln w="12700">
            <a:solidFill>
              <a:srgbClr val="F0F2FF"/>
            </a:solidFill>
            <a:prstDash val="solid"/>
          </a:ln>
        </p:spPr>
      </p:sp>
      <p:pic>
        <p:nvPicPr>
          <p:cNvPr id="7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1312" y="4096512"/>
            <a:ext cx="347472" cy="347472"/>
          </a:xfrm>
          <a:prstGeom prst="rect">
            <a:avLst/>
          </a:prstGeom>
        </p:spPr>
      </p:pic>
      <p:sp>
        <p:nvSpPr>
          <p:cNvPr id="72" name="Text 64"/>
          <p:cNvSpPr/>
          <p:nvPr/>
        </p:nvSpPr>
        <p:spPr>
          <a:xfrm>
            <a:off x="8641080" y="405079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Tahti Radio</a:t>
            </a:r>
            <a:endParaRPr lang="en-US" sz="1300" dirty="0"/>
          </a:p>
        </p:txBody>
      </p:sp>
      <p:sp>
        <p:nvSpPr>
          <p:cNvPr id="73" name="Text 65"/>
          <p:cNvSpPr/>
          <p:nvPr/>
        </p:nvSpPr>
        <p:spPr>
          <a:xfrm>
            <a:off x="8641080" y="4370832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24/7 live-relay meta-stream</a:t>
            </a:r>
            <a:endParaRPr lang="en-US" sz="900" dirty="0"/>
          </a:p>
        </p:txBody>
      </p:sp>
      <p:sp>
        <p:nvSpPr>
          <p:cNvPr id="74" name="Text 66"/>
          <p:cNvSpPr/>
          <p:nvPr/>
        </p:nvSpPr>
        <p:spPr>
          <a:xfrm>
            <a:off x="8211312" y="475488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Source</a:t>
            </a:r>
            <a:endParaRPr lang="en-US" sz="950" dirty="0"/>
          </a:p>
        </p:txBody>
      </p:sp>
      <p:sp>
        <p:nvSpPr>
          <p:cNvPr id="75" name="Text 67"/>
          <p:cNvSpPr/>
          <p:nvPr/>
        </p:nvSpPr>
        <p:spPr>
          <a:xfrm>
            <a:off x="9555480" y="475488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Currently-live channels</a:t>
            </a:r>
            <a:endParaRPr lang="en-US" sz="1000" dirty="0"/>
          </a:p>
        </p:txBody>
      </p:sp>
      <p:sp>
        <p:nvSpPr>
          <p:cNvPr id="76" name="Text 68"/>
          <p:cNvSpPr/>
          <p:nvPr/>
        </p:nvSpPr>
        <p:spPr>
          <a:xfrm>
            <a:off x="8211312" y="513892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Curation</a:t>
            </a:r>
            <a:endParaRPr lang="en-US" sz="950" dirty="0"/>
          </a:p>
        </p:txBody>
      </p:sp>
      <p:sp>
        <p:nvSpPr>
          <p:cNvPr id="77" name="Text 69"/>
          <p:cNvSpPr/>
          <p:nvPr/>
        </p:nvSpPr>
        <p:spPr>
          <a:xfrm>
            <a:off x="9555480" y="513892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None — fair rotation</a:t>
            </a:r>
            <a:endParaRPr lang="en-US" sz="1000" dirty="0"/>
          </a:p>
        </p:txBody>
      </p:sp>
      <p:sp>
        <p:nvSpPr>
          <p:cNvPr id="78" name="Text 70"/>
          <p:cNvSpPr/>
          <p:nvPr/>
        </p:nvSpPr>
        <p:spPr>
          <a:xfrm>
            <a:off x="8211312" y="552297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Multistream</a:t>
            </a:r>
            <a:endParaRPr lang="en-US" sz="950" dirty="0"/>
          </a:p>
        </p:txBody>
      </p:sp>
      <p:sp>
        <p:nvSpPr>
          <p:cNvPr id="79" name="Text 71"/>
          <p:cNvSpPr/>
          <p:nvPr/>
        </p:nvSpPr>
        <p:spPr>
          <a:xfrm>
            <a:off x="9555480" y="5522976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Mixcloud Live only</a:t>
            </a:r>
            <a:endParaRPr lang="en-US" sz="1000" dirty="0"/>
          </a:p>
        </p:txBody>
      </p:sp>
      <p:sp>
        <p:nvSpPr>
          <p:cNvPr id="80" name="Text 72"/>
          <p:cNvSpPr/>
          <p:nvPr/>
        </p:nvSpPr>
        <p:spPr>
          <a:xfrm>
            <a:off x="8211312" y="590702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Opt-out</a:t>
            </a:r>
            <a:endParaRPr lang="en-US" sz="950" dirty="0"/>
          </a:p>
        </p:txBody>
      </p:sp>
      <p:sp>
        <p:nvSpPr>
          <p:cNvPr id="81" name="Text 73"/>
          <p:cNvSpPr/>
          <p:nvPr/>
        </p:nvSpPr>
        <p:spPr>
          <a:xfrm>
            <a:off x="9555480" y="5907024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Per-channel toggle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Listeners never pay. Paying artists become members of the association — eligible for annual grants.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554480" y="1828800"/>
            <a:ext cx="3017520" cy="438912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4480" y="1828800"/>
            <a:ext cx="3017520" cy="73152"/>
          </a:xfrm>
          <a:prstGeom prst="rect">
            <a:avLst/>
          </a:prstGeom>
          <a:solidFill>
            <a:srgbClr val="8B92C0"/>
          </a:solidFill>
          <a:ln w="12700">
            <a:solidFill>
              <a:srgbClr val="8B92C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20116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31720" y="19933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B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783080" y="26060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€0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1783080" y="33832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 trying out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783080" y="3794760"/>
            <a:ext cx="2606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 channel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archive items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Live broadcasting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Basic chat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60-day inactive expiry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1828800"/>
            <a:ext cx="3017520" cy="438912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828800"/>
            <a:ext cx="301752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01168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32120" y="19933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983480" y="26060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€40</a:t>
            </a:r>
            <a:endParaRPr lang="en-US" sz="4400" dirty="0"/>
          </a:p>
        </p:txBody>
      </p:sp>
      <p:sp>
        <p:nvSpPr>
          <p:cNvPr id="16" name="Text 12"/>
          <p:cNvSpPr/>
          <p:nvPr/>
        </p:nvSpPr>
        <p:spPr>
          <a:xfrm>
            <a:off x="4983480" y="33832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/year — the workhorse tier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983480" y="3794760"/>
            <a:ext cx="2606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Unlimited archive (no enforced limit)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Auto-archive every live set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 multistream destination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Mixcloud auto-upload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Pinned announcements + moderation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Pay-per-release DSP €8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Member of the association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7955280" y="1737360"/>
            <a:ext cx="3017520" cy="4572000"/>
          </a:xfrm>
          <a:prstGeom prst="rect">
            <a:avLst/>
          </a:prstGeom>
          <a:solidFill>
            <a:srgbClr val="1B2151"/>
          </a:solidFill>
          <a:ln w="25400">
            <a:solidFill>
              <a:srgbClr val="B388F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955280" y="1737360"/>
            <a:ext cx="3017520" cy="73152"/>
          </a:xfrm>
          <a:prstGeom prst="rect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784080" y="1874520"/>
            <a:ext cx="1051560" cy="320040"/>
          </a:xfrm>
          <a:prstGeom prst="rect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9784080" y="18745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9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192024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732520" y="19019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8183880" y="25146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€120</a:t>
            </a:r>
            <a:endParaRPr lang="en-US" sz="4400" dirty="0"/>
          </a:p>
        </p:txBody>
      </p:sp>
      <p:sp>
        <p:nvSpPr>
          <p:cNvPr id="25" name="Text 20"/>
          <p:cNvSpPr/>
          <p:nvPr/>
        </p:nvSpPr>
        <p:spPr>
          <a:xfrm>
            <a:off x="8183880" y="32918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/year — for working pros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8183880" y="3703320"/>
            <a:ext cx="2606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Everything in Artist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12 DSP releases/yr included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Unlimited multistream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 domain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Detailed listener insights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Live recording in FLAC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API access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Member of the association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Generous storage, unenforced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Hard limits are a tax on serious artists. We display usage, we nudge, we don’t cut anyone off.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291840" cy="310896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329184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20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target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377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500 MB / user (default)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83464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Displayed in the dashboard as a friendly gauge. Above target, the artist sees an appreciative note — not a warning. No enforcement at any level.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1783080"/>
            <a:ext cx="3291840" cy="310896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1783080"/>
            <a:ext cx="3291840" cy="73152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920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transparency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2377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DDC9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Public on the dashboard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283464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Total platform storage, average per channel, top decile — all visible. The membership sees the strain and self-regulates collectively.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783080"/>
            <a:ext cx="3291840" cy="310896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0" y="1783080"/>
            <a:ext cx="3291840" cy="73152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58200" y="1920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Anti-abuse safeguard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58200" y="2377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B45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Hidden, never advertised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58200" y="283464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technical ceiling exists only to catch scripted abuse (gigabyte dumps overnight). Manual review, never automatic block. The user is contacted directly.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074920"/>
            <a:ext cx="10881360" cy="1280160"/>
          </a:xfrm>
          <a:prstGeom prst="rect">
            <a:avLst/>
          </a:prstGeom>
          <a:solidFill>
            <a:srgbClr val="131836"/>
          </a:solidFill>
          <a:ln w="12700">
            <a:solidFill>
              <a:srgbClr val="B388F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5074920"/>
            <a:ext cx="73152" cy="1280160"/>
          </a:xfrm>
          <a:prstGeom prst="rect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5212080"/>
            <a:ext cx="457200" cy="4572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463040" y="51663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Bylaws commitment (§8 proposed)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463040" y="557784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“Tahti ry does not impose enforced storage limits on member channels. The Board may revisit this policy if aggregate storage cost exceeds 25% of subscription revenue, by proposing an amendment subject to member vote at the next General Meeting.”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Subscriptions grow into the dominant stream; grants fund the founding years.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828800"/>
          <a:ext cx="109728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1463040" y="6035040"/>
            <a:ext cx="2743200" cy="54864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463040" y="6035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€35,426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120640" y="6035040"/>
            <a:ext cx="2743200" cy="54864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20640" y="6035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€107,844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778240" y="6035040"/>
            <a:ext cx="2743200" cy="54864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78240" y="6035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€290,872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money goes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Year 3 illustrative breakdown. 90% of surplus returns to artists; 10% builds operating reserve.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828800"/>
          <a:ext cx="73152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828800"/>
            <a:ext cx="3383280" cy="4389120"/>
          </a:xfrm>
          <a:prstGeom prst="rect">
            <a:avLst/>
          </a:prstGeom>
          <a:solidFill>
            <a:srgbClr val="1B2151"/>
          </a:solidFill>
          <a:ln w="25400">
            <a:solidFill>
              <a:srgbClr val="3DDC97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0" y="1828800"/>
            <a:ext cx="3383280" cy="73152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2057400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0" y="2651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grant pool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229600" y="30632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€129,737</a:t>
            </a:r>
            <a:endParaRPr lang="en-US" sz="3600" dirty="0"/>
          </a:p>
        </p:txBody>
      </p:sp>
      <p:sp>
        <p:nvSpPr>
          <p:cNvPr id="10" name="Text 6"/>
          <p:cNvSpPr/>
          <p:nvPr/>
        </p:nvSpPr>
        <p:spPr>
          <a:xfrm>
            <a:off x="8229600" y="3840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 ~4,000 artist members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8412480" y="4343400"/>
            <a:ext cx="3017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Weighted by engagement units: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Top 10% </a:t>
            </a:r>
            <a:pPr indent="0" marL="0">
              <a:buNone/>
            </a:pPr>
            <a:r>
              <a:rPr lang="en-US" sz="1200" b="1" dirty="0">
                <a:solidFill>
                  <a:srgbClr val="3DDC9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~€260 each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Mid 30% </a:t>
            </a:r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~€19 each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Active rest </a:t>
            </a:r>
            <a:pPr indent="0" marL="0">
              <a:buNone/>
            </a:pPr>
            <a:r>
              <a:rPr lang="en-US" sz="1200" b="1" dirty="0">
                <a:solidFill>
                  <a:srgbClr val="B38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~€4 each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Three-year picture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Year 1 needs a founding grant to bridge the deficit. Year 2 and 3 build surplus.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72800" cy="4023360"/>
        </p:xfrm>
        <a:graphic>
          <a:graphicData uri="http://schemas.openxmlformats.org/drawingml/2006/table">
            <a:tbl>
              <a:tblPr/>
              <a:tblGrid>
                <a:gridCol w="3291840"/>
                <a:gridCol w="1920240"/>
                <a:gridCol w="1920240"/>
                <a:gridCol w="1920240"/>
                <a:gridCol w="192024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8B92C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Year 1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8B92C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Year 2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8B92C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Year 3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8B92C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3-year total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3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2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Paying artists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0F2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200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0F2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1,200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0F2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4,000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8B92C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—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2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Total revenue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D4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€35,426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D4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€107,844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D4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€290,872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D4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€434,142</a:t>
                      </a:r>
                      <a:endParaRPr lang="en-US" sz="13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2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Total costs (incl. salary)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€54,572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€85,692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€146,720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6B6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€286,984</a:t>
                      </a:r>
                      <a:endParaRPr lang="en-US" sz="13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0F2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Surplus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6B6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-€19,146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3DDC9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+€22,152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3DDC9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+€144,152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3DDC9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+€147,158</a:t>
                      </a:r>
                      <a:endParaRPr lang="en-US" sz="13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2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Director salary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FB454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€30,000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FB454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€40,000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FB454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€45,000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B454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€115,000</a:t>
                      </a:r>
                      <a:endParaRPr lang="en-US" sz="13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0F2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Artist grants distributed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3DDC9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€0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3DDC9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€19,937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3DDC9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€129,737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3DDC9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€149,674</a:t>
                      </a:r>
                      <a:endParaRPr lang="en-US" sz="13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0F2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Fan-sub direct to artists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B388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€1,622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B388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€22,705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B388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€138,394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B388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€162,721</a:t>
                      </a:r>
                      <a:endParaRPr lang="en-US" sz="13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0F2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Total artist money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B454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€1,622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B454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€42,642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B454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€268,131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B454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€312,395</a:t>
                      </a:r>
                      <a:endParaRPr lang="en-US" sz="14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1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897880"/>
            <a:ext cx="10972800" cy="640080"/>
          </a:xfrm>
          <a:prstGeom prst="rect">
            <a:avLst/>
          </a:prstGeom>
          <a:solidFill>
            <a:srgbClr val="131836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5897880"/>
            <a:ext cx="73152" cy="640080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58978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DDC9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HEADLINE:  </a:t>
            </a:r>
            <a:pPr indent="0" marL="0">
              <a:buNone/>
            </a:pPr>
            <a:r>
              <a:rPr lang="en-US" sz="1300" i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€312k in artists’ hands over 3 years — grants + direct fan-subs — while paying the director a fair Finnish wage.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and transparency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Finnish yhdistys, AGPL software, public ledger. The structure makes promises keepable.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291840" cy="457200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329184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659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4767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Yhdistys structure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26517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Members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8680" y="2926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Paying artists, one vote each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33832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Board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68680" y="3657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3-5 trustees, 2-yr terms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68680" y="41148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Director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68680" y="4389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Paid employee, salary cap 30% of revenue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68680" y="48463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AGM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68680" y="5120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Annual, electronic OK, motions voted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68680" y="55778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Audit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68680" y="5852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Required at €100k+ revenue (Y2 on)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434840" y="1783080"/>
            <a:ext cx="3291840" cy="457200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434840" y="1783080"/>
            <a:ext cx="3291840" cy="73152"/>
          </a:xfrm>
          <a:prstGeom prst="rect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965960"/>
            <a:ext cx="457200" cy="4572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257800" y="194767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AGPL-3.0 software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4663440" y="26517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License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663440" y="2926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Copyleft, viral, network-aware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663440" y="33832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Forks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4663440" y="3657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Welcome — must publish modifications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4663440" y="41148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 AGPL §13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663440" y="4389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page links to source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4663440" y="48463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/source endpoint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4663440" y="5120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Live tarball of running version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4663440" y="55778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Contributions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4663440" y="5852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Welcome, no CLA required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8229600" y="1783080"/>
            <a:ext cx="3291840" cy="457200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8229600" y="1783080"/>
            <a:ext cx="3291840" cy="73152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965960"/>
            <a:ext cx="457200" cy="45720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9052560" y="194767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ledger</a:t>
            </a:r>
            <a:endParaRPr lang="en-US" sz="1500" dirty="0"/>
          </a:p>
        </p:txBody>
      </p:sp>
      <p:sp>
        <p:nvSpPr>
          <p:cNvPr id="36" name="Text 31"/>
          <p:cNvSpPr/>
          <p:nvPr/>
        </p:nvSpPr>
        <p:spPr>
          <a:xfrm>
            <a:off x="8458200" y="26517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Monthly rollup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8458200" y="2926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Published within 30 days</a:t>
            </a:r>
            <a:endParaRPr lang="en-US" sz="1200" dirty="0"/>
          </a:p>
        </p:txBody>
      </p:sp>
      <p:sp>
        <p:nvSpPr>
          <p:cNvPr id="38" name="Text 33"/>
          <p:cNvSpPr/>
          <p:nvPr/>
        </p:nvSpPr>
        <p:spPr>
          <a:xfrm>
            <a:off x="8458200" y="33832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Annual report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8458200" y="3657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Audited, published in March</a:t>
            </a:r>
            <a:endParaRPr lang="en-US" sz="1200" dirty="0"/>
          </a:p>
        </p:txBody>
      </p:sp>
      <p:sp>
        <p:nvSpPr>
          <p:cNvPr id="40" name="Text 35"/>
          <p:cNvSpPr/>
          <p:nvPr/>
        </p:nvSpPr>
        <p:spPr>
          <a:xfrm>
            <a:off x="8458200" y="41148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Per-channel grants</a:t>
            </a:r>
            <a:endParaRPr lang="en-US" sz="1100" dirty="0"/>
          </a:p>
        </p:txBody>
      </p:sp>
      <p:sp>
        <p:nvSpPr>
          <p:cNvPr id="41" name="Text 36"/>
          <p:cNvSpPr/>
          <p:nvPr/>
        </p:nvSpPr>
        <p:spPr>
          <a:xfrm>
            <a:off x="8458200" y="4389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Public (anonymized by default)</a:t>
            </a:r>
            <a:endParaRPr lang="en-US" sz="1200" dirty="0"/>
          </a:p>
        </p:txBody>
      </p:sp>
      <p:sp>
        <p:nvSpPr>
          <p:cNvPr id="42" name="Text 37"/>
          <p:cNvSpPr/>
          <p:nvPr/>
        </p:nvSpPr>
        <p:spPr>
          <a:xfrm>
            <a:off x="8458200" y="48463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API</a:t>
            </a:r>
            <a:endParaRPr lang="en-US" sz="1100" dirty="0"/>
          </a:p>
        </p:txBody>
      </p:sp>
      <p:sp>
        <p:nvSpPr>
          <p:cNvPr id="43" name="Text 38"/>
          <p:cNvSpPr/>
          <p:nvPr/>
        </p:nvSpPr>
        <p:spPr>
          <a:xfrm>
            <a:off x="8458200" y="5120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Read-only, CORS-open, queryable</a:t>
            </a:r>
            <a:endParaRPr lang="en-US" sz="1200" dirty="0"/>
          </a:p>
        </p:txBody>
      </p:sp>
      <p:sp>
        <p:nvSpPr>
          <p:cNvPr id="44" name="Text 39"/>
          <p:cNvSpPr/>
          <p:nvPr/>
        </p:nvSpPr>
        <p:spPr>
          <a:xfrm>
            <a:off x="8458200" y="55778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Corrections</a:t>
            </a:r>
            <a:endParaRPr lang="en-US" sz="1100" dirty="0"/>
          </a:p>
        </p:txBody>
      </p:sp>
      <p:sp>
        <p:nvSpPr>
          <p:cNvPr id="45" name="Text 40"/>
          <p:cNvSpPr/>
          <p:nvPr/>
        </p:nvSpPr>
        <p:spPr>
          <a:xfrm>
            <a:off x="8458200" y="5852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Append-only, audit-traced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strategy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Y1 grant gap is the existential question. Securing one of these is the first milestone.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Business Finland Tempo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0" y="1993392"/>
            <a:ext cx="6858000" cy="365760"/>
          </a:xfrm>
          <a:prstGeom prst="rect">
            <a:avLst/>
          </a:prstGeom>
          <a:solidFill>
            <a:srgbClr val="131836"/>
          </a:solidFill>
          <a:ln w="6350">
            <a:solidFill>
              <a:srgbClr val="2B32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0" y="1993392"/>
            <a:ext cx="4286250" cy="365760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0" y="1993392"/>
            <a:ext cx="41033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up to €50,000  ·  Y0–Y1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Koneen Säätiö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0" y="2633472"/>
            <a:ext cx="6858000" cy="365760"/>
          </a:xfrm>
          <a:prstGeom prst="rect">
            <a:avLst/>
          </a:prstGeom>
          <a:solidFill>
            <a:srgbClr val="131836"/>
          </a:solidFill>
          <a:ln w="6350">
            <a:solidFill>
              <a:srgbClr val="2B32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2633472"/>
            <a:ext cx="3429000" cy="365760"/>
          </a:xfrm>
          <a:prstGeom prst="rect">
            <a:avLst/>
          </a:prstGeom>
          <a:solidFill>
            <a:srgbClr val="B388FF">
              <a:alpha val="80000"/>
            </a:srgbClr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26334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up to €40,000  ·  Y0–Y3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Creative Europe (Culture)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0" y="3273552"/>
            <a:ext cx="6858000" cy="365760"/>
          </a:xfrm>
          <a:prstGeom prst="rect">
            <a:avLst/>
          </a:prstGeom>
          <a:solidFill>
            <a:srgbClr val="131836"/>
          </a:solidFill>
          <a:ln w="6350">
            <a:solidFill>
              <a:srgbClr val="2B32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0" y="3273552"/>
            <a:ext cx="6858000" cy="365760"/>
          </a:xfrm>
          <a:prstGeom prst="rect">
            <a:avLst/>
          </a:prstGeom>
          <a:solidFill>
            <a:srgbClr val="3DDC97">
              <a:alpha val="80000"/>
            </a:srgbClr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0" y="3273552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up to €80,000  ·  Y2–Y3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8404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Suomen Kulttuurirahasto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0" y="3913632"/>
            <a:ext cx="6858000" cy="365760"/>
          </a:xfrm>
          <a:prstGeom prst="rect">
            <a:avLst/>
          </a:prstGeom>
          <a:solidFill>
            <a:srgbClr val="131836"/>
          </a:solidFill>
          <a:ln w="6350">
            <a:solidFill>
              <a:srgbClr val="2B32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0" y="3913632"/>
            <a:ext cx="1714500" cy="365760"/>
          </a:xfrm>
          <a:prstGeom prst="rect">
            <a:avLst/>
          </a:prstGeom>
          <a:solidFill>
            <a:srgbClr val="FFB454">
              <a:alpha val="80000"/>
            </a:srgbClr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0" y="3913632"/>
            <a:ext cx="1531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up to €20,000  ·  Y1–Y3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4805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Helsinki city culture grants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14800" y="4553712"/>
            <a:ext cx="6858000" cy="365760"/>
          </a:xfrm>
          <a:prstGeom prst="rect">
            <a:avLst/>
          </a:prstGeom>
          <a:solidFill>
            <a:srgbClr val="131836"/>
          </a:solidFill>
          <a:ln w="6350">
            <a:solidFill>
              <a:srgbClr val="2B32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0" y="4553712"/>
            <a:ext cx="857250" cy="365760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0" y="4553712"/>
            <a:ext cx="6743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up to €10,000  ·  Y1–Y3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5120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Music Finland (Musex)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114800" y="5193792"/>
            <a:ext cx="6858000" cy="365760"/>
          </a:xfrm>
          <a:prstGeom prst="rect">
            <a:avLst/>
          </a:prstGeom>
          <a:solidFill>
            <a:srgbClr val="131836"/>
          </a:solidFill>
          <a:ln w="6350">
            <a:solidFill>
              <a:srgbClr val="2B327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0" y="5193792"/>
            <a:ext cx="857250" cy="365760"/>
          </a:xfrm>
          <a:prstGeom prst="rect">
            <a:avLst/>
          </a:prstGeom>
          <a:solidFill>
            <a:srgbClr val="8B92C0">
              <a:alpha val="80000"/>
            </a:srgbClr>
          </a:solidFill>
          <a:ln w="12700">
            <a:solidFill>
              <a:srgbClr val="8B92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0" y="5193792"/>
            <a:ext cx="6743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up to €10,000  ·  Y2–Y3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5897880"/>
            <a:ext cx="10881360" cy="640080"/>
          </a:xfrm>
          <a:prstGeom prst="rect">
            <a:avLst/>
          </a:prstGeom>
          <a:solidFill>
            <a:srgbClr val="131836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5897880"/>
            <a:ext cx="73152" cy="64008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58978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B45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Y1 GOAL:  </a:t>
            </a:r>
            <a:pPr indent="0" marL="0">
              <a:buNone/>
            </a:pPr>
            <a:r>
              <a:rPr lang="en-US" sz="13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secure €25,000 from any single source (or split across two). Apply to Tempo + Koneen + Kulttuurirahasto in parallel.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twelve months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founding meeting to first beta, with the grant deadlines that shape the calendar.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210312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73152" cy="21031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659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78308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Pre-founding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Engage Finnish association lawyer. Draft bylaws. Identify 3 founding members and 2-3 board candidates. Reserve €2k for legal setup.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520440" cy="210312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828800"/>
            <a:ext cx="73152" cy="2103120"/>
          </a:xfrm>
          <a:prstGeom prst="rect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9659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48640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+ grants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7720" y="260604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Founding meeting. PRH registration. Submit Tempo, Koneen, Kulttuurirahasto applications in parallel. Begin building M0–M2.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520440" cy="210312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0" y="1828800"/>
            <a:ext cx="73152" cy="2103120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19659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8972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beta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21040" y="260604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Build M3–M5. Invite 30–50 hand-picked artists from Helsinki/EU scene. Iterate from real feedback. Tempo decision expected.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114800"/>
            <a:ext cx="3520440" cy="210312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4114800"/>
            <a:ext cx="73152" cy="210312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2519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783080" y="4297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launch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489204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Build M6–M7 (multistream + distribution). Open public signups. Press push: RA, Mixmag, Wire, Native Instruments Blog.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43400" y="4114800"/>
            <a:ext cx="3520440" cy="210312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43400" y="4114800"/>
            <a:ext cx="73152" cy="21031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42519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486400" y="4297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AGM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17720" y="489204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Annual general meeting before March. Y1 closes with audited financials. No grants Y1 (no surplus), but model proven.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600" kern="0" dirty="0">
                <a:solidFill>
                  <a:srgbClr val="5A6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TAHTI  ry  ·  HELSINKI  ·  AGPL-3.0  ·  YHDISTYS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Tahti — Mission and Sustainability</dc:title>
  <dc:subject>PptxGenJS Presentation</dc:subject>
  <dc:creator>Tahti ry</dc:creator>
  <cp:lastModifiedBy>Tahti ry</cp:lastModifiedBy>
  <cp:revision>1</cp:revision>
  <dcterms:created xsi:type="dcterms:W3CDTF">2026-05-17T17:39:09Z</dcterms:created>
  <dcterms:modified xsi:type="dcterms:W3CDTF">2026-05-17T17:39:09Z</dcterms:modified>
</cp:coreProperties>
</file>